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4DF589-52E4-4AEB-9E13-72138671A7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54ABBCD-5B37-4E7D-8CFD-8B6C5623E1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C914224-B653-41CB-8914-1FB7B6A2B5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38C71BF-4C7E-4840-B8CC-95B6DC80E4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9DA6DF-4DFE-4059-AE18-D70DD1B010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3939EF-090B-4B4B-B716-849791E1AA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340C6BD-A692-4704-881B-C53E4A84BD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4630B4-0D0A-4E63-AF7B-6875A2392C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B39697-223A-47EC-9249-FEC424EA6E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8692478-E008-4ECE-8613-09F11F195F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 titolo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B02186-BAAC-4BCD-9B5F-942E6A0DF0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121C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Oval 3"/>
          <p:cNvSpPr/>
          <p:nvPr/>
        </p:nvSpPr>
        <p:spPr>
          <a:xfrm>
            <a:off x="9784080" y="-457200"/>
            <a:ext cx="3107160" cy="3107160"/>
          </a:xfrm>
          <a:prstGeom prst="ellipse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Oval 4"/>
          <p:cNvSpPr/>
          <p:nvPr/>
        </p:nvSpPr>
        <p:spPr>
          <a:xfrm>
            <a:off x="10698480" y="1188720"/>
            <a:ext cx="2009880" cy="2009880"/>
          </a:xfrm>
          <a:prstGeom prst="ellipse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731520" y="1188720"/>
            <a:ext cx="85021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8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Cosa sono i Large Language Models</a:t>
            </a:r>
            <a:endParaRPr lang="it-IT" sz="3800" b="0" u="none" strike="noStrike">
              <a:solidFill>
                <a:srgbClr val="FAFC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10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11"/>
          <p:cNvSpPr/>
          <p:nvPr/>
        </p:nvSpPr>
        <p:spPr>
          <a:xfrm>
            <a:off x="10271520" y="246960"/>
            <a:ext cx="1598400" cy="766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12" descr="challenge_logo.png"/>
          <p:cNvPicPr/>
          <p:nvPr/>
        </p:nvPicPr>
        <p:blipFill>
          <a:blip r:embed="rId1"/>
          <a:stretch/>
        </p:blipFill>
        <p:spPr>
          <a:xfrm>
            <a:off x="10317240" y="274320"/>
            <a:ext cx="1506960" cy="71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685800" y="411480"/>
            <a:ext cx="107881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685800" y="713160"/>
            <a:ext cx="10788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La lezione di oggi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3" name="Rounded Rectangle 5"/>
          <p:cNvSpPr/>
          <p:nvPr/>
        </p:nvSpPr>
        <p:spPr>
          <a:xfrm>
            <a:off x="777240" y="1737360"/>
            <a:ext cx="10559520" cy="45540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1005840" y="1828800"/>
            <a:ext cx="98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1. Dall’AI ai Large Language Models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7"/>
          <p:cNvSpPr/>
          <p:nvPr/>
        </p:nvSpPr>
        <p:spPr>
          <a:xfrm>
            <a:off x="777240" y="2359080"/>
            <a:ext cx="10559520" cy="45540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1005840" y="2450520"/>
            <a:ext cx="98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2. Testo, token ed embedding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9"/>
          <p:cNvSpPr/>
          <p:nvPr/>
        </p:nvSpPr>
        <p:spPr>
          <a:xfrm>
            <a:off x="777240" y="2980800"/>
            <a:ext cx="10559520" cy="45540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1005840" y="3072240"/>
            <a:ext cx="98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3. Transformer e attenzione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1"/>
          <p:cNvSpPr/>
          <p:nvPr/>
        </p:nvSpPr>
        <p:spPr>
          <a:xfrm>
            <a:off x="777240" y="3602880"/>
            <a:ext cx="10559520" cy="45540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1005840" y="3694320"/>
            <a:ext cx="98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4. Addestramento e allineamento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3"/>
          <p:cNvSpPr/>
          <p:nvPr/>
        </p:nvSpPr>
        <p:spPr>
          <a:xfrm>
            <a:off x="777240" y="4224600"/>
            <a:ext cx="10559520" cy="45540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2" name="TextBox 14"/>
          <p:cNvSpPr/>
          <p:nvPr/>
        </p:nvSpPr>
        <p:spPr>
          <a:xfrm>
            <a:off x="1005840" y="4316040"/>
            <a:ext cx="98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5. Inferenza, prompting e contesto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5"/>
          <p:cNvSpPr/>
          <p:nvPr/>
        </p:nvSpPr>
        <p:spPr>
          <a:xfrm>
            <a:off x="777240" y="4846320"/>
            <a:ext cx="10559520" cy="45540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4" name="TextBox 16"/>
          <p:cNvSpPr/>
          <p:nvPr/>
        </p:nvSpPr>
        <p:spPr>
          <a:xfrm>
            <a:off x="1005840" y="4937760"/>
            <a:ext cx="98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6. Limiti, rischi e uso responsabile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7"/>
          <p:cNvSpPr/>
          <p:nvPr/>
        </p:nvSpPr>
        <p:spPr>
          <a:xfrm>
            <a:off x="777240" y="5468040"/>
            <a:ext cx="10559520" cy="45540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6" name="TextBox 18"/>
          <p:cNvSpPr/>
          <p:nvPr/>
        </p:nvSpPr>
        <p:spPr>
          <a:xfrm>
            <a:off x="1005840" y="5559480"/>
            <a:ext cx="98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7. LLM + Python: come si usano davvero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20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1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22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9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731520" y="685800"/>
            <a:ext cx="10954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01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731520" y="1828800"/>
            <a:ext cx="9873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Dall’AI ai Large Language Models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731520" y="3063240"/>
            <a:ext cx="8776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0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Partiamo dalle fondamenta: che cosa rende “grande” un modello linguistico?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6"/>
          <p:cNvSpPr/>
          <p:nvPr/>
        </p:nvSpPr>
        <p:spPr>
          <a:xfrm>
            <a:off x="731520" y="5212080"/>
            <a:ext cx="2924280" cy="71280"/>
          </a:xfrm>
          <a:prstGeom prst="rect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Rectangle 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1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CONFRONTO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AI, Machine Learning, Deep Learning, LLM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03" name="Rounded Rectangle 5"/>
          <p:cNvSpPr/>
          <p:nvPr/>
        </p:nvSpPr>
        <p:spPr>
          <a:xfrm>
            <a:off x="731520" y="1783080"/>
            <a:ext cx="250128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960120" y="2057400"/>
            <a:ext cx="2044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Intelligenza Artificiale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960120" y="2788920"/>
            <a:ext cx="204408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Insieme di tecniche per svolgere compiti che richiedono capacità “intelligenti”.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8"/>
          <p:cNvSpPr/>
          <p:nvPr/>
        </p:nvSpPr>
        <p:spPr>
          <a:xfrm>
            <a:off x="3463200" y="1783080"/>
            <a:ext cx="250128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3691800" y="2057400"/>
            <a:ext cx="2044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Machine Learning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3691800" y="2788920"/>
            <a:ext cx="204408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Sistemi che apprendono pattern dai dati invece di ricevere tutte le regole a mano.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1"/>
          <p:cNvSpPr/>
          <p:nvPr/>
        </p:nvSpPr>
        <p:spPr>
          <a:xfrm>
            <a:off x="6194880" y="1783080"/>
            <a:ext cx="250128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6423480" y="2057400"/>
            <a:ext cx="2044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Deep Learning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6423480" y="2788920"/>
            <a:ext cx="204408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Machine Learning basato su reti neurali profonde con molti strati.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4"/>
          <p:cNvSpPr/>
          <p:nvPr/>
        </p:nvSpPr>
        <p:spPr>
          <a:xfrm>
            <a:off x="8926920" y="1783080"/>
            <a:ext cx="250128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TextBox 15"/>
          <p:cNvSpPr/>
          <p:nvPr/>
        </p:nvSpPr>
        <p:spPr>
          <a:xfrm>
            <a:off x="9155520" y="2057400"/>
            <a:ext cx="2044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F19734"/>
                </a:solidFill>
                <a:effectLst/>
                <a:uFillTx/>
                <a:latin typeface="Trebuchet MS"/>
              </a:rPr>
              <a:t>LLM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9155520" y="2788920"/>
            <a:ext cx="204408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Modelli deep learning addestrati su enormi quantità di testo per prevedere e generare linguaggio.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1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Picture 2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Che cos’è un modello?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22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 modello è una funzione matematica con parametri appresi dai dati. Riceve un input, lo trasforma e produce un output.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Non “contiene risposte” come un database: codifica regolarità statistiche apprese durante l’addestramento.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Che cosa significa “Language Model”?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34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 Language Model assegna probabilità alle sequenze di parole o token. In pratica impara quali continuazioni sono plausibili dato ciò che viene prima.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Esempio: “Il cielo è…” → azzurro può avere probabilità maggiore di frigorifero.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IDEA FONDAMENTALE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cuore di un LLM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914400" y="2011680"/>
            <a:ext cx="10330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38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Prevedere il token successivo</a:t>
            </a:r>
            <a:endParaRPr lang="it-I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1828800" y="3337560"/>
            <a:ext cx="850212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20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Ripetendo questa operazione migliaia di volte, il modello può generare frasi, codice, riassunti, spiegazioni e dialoghi.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7"/>
          <p:cNvSpPr/>
          <p:nvPr/>
        </p:nvSpPr>
        <p:spPr>
          <a:xfrm>
            <a:off x="3383280" y="4800600"/>
            <a:ext cx="5393160" cy="63828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3566160" y="4992480"/>
            <a:ext cx="5027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input → probabilità → token → nuovo contesto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0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11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2" name="Picture 12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Perché “Large”?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57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Large non indica solo la dimensione del file. In genere significa una combinazione di molti parametri, grandi dataset, molta capacità di calcolo e architetture scalabili.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Più grande ≠ automaticamente migliore: contano dati, training, architettura, allineamento e qualità dell’inferenza.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4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SCHEMA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 4 ingredienti di un LLM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69" name="Rounded Rectangle 5"/>
          <p:cNvSpPr/>
          <p:nvPr/>
        </p:nvSpPr>
        <p:spPr>
          <a:xfrm>
            <a:off x="9111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10940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DATI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10940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Testo, codice, documenti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8"/>
          <p:cNvSpPr/>
          <p:nvPr/>
        </p:nvSpPr>
        <p:spPr>
          <a:xfrm>
            <a:off x="35902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37731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ARCHITETTURA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37731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Transformer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1"/>
          <p:cNvSpPr/>
          <p:nvPr/>
        </p:nvSpPr>
        <p:spPr>
          <a:xfrm>
            <a:off x="62697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64526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CALCOLO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3"/>
          <p:cNvSpPr/>
          <p:nvPr/>
        </p:nvSpPr>
        <p:spPr>
          <a:xfrm>
            <a:off x="64526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GPU/acceleratori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4"/>
          <p:cNvSpPr/>
          <p:nvPr/>
        </p:nvSpPr>
        <p:spPr>
          <a:xfrm>
            <a:off x="89488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TextBox 15"/>
          <p:cNvSpPr/>
          <p:nvPr/>
        </p:nvSpPr>
        <p:spPr>
          <a:xfrm>
            <a:off x="91317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F19734"/>
                </a:solidFill>
                <a:effectLst/>
                <a:uFillTx/>
                <a:latin typeface="Trebuchet MS"/>
              </a:rPr>
              <a:t>TRAINING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6"/>
          <p:cNvSpPr/>
          <p:nvPr/>
        </p:nvSpPr>
        <p:spPr>
          <a:xfrm>
            <a:off x="91317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Ottimizzazione dei parametri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1005840" y="4983480"/>
            <a:ext cx="10148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comportamento finale emerge dall’interazione di questi quattro elementi.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19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20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4" name="Picture 21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-4932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EVOLUZIONE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Una storia molto breve dei modelli linguistici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1051560" y="3063240"/>
            <a:ext cx="10010880" cy="62280"/>
          </a:xfrm>
          <a:prstGeom prst="rect">
            <a:avLst/>
          </a:prstGeom>
          <a:solidFill>
            <a:srgbClr val="C8D3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90" name="Oval 6"/>
          <p:cNvSpPr/>
          <p:nvPr/>
        </p:nvSpPr>
        <p:spPr>
          <a:xfrm>
            <a:off x="1097280" y="2898720"/>
            <a:ext cx="382320" cy="382320"/>
          </a:xfrm>
          <a:prstGeom prst="ellipse">
            <a:avLst/>
          </a:prstGeom>
          <a:solidFill>
            <a:srgbClr val="225C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914400" y="1874520"/>
            <a:ext cx="2467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N-gram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914400" y="3520440"/>
            <a:ext cx="246708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4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Probabilità basate sulle parole precedenti.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Oval 9"/>
          <p:cNvSpPr/>
          <p:nvPr/>
        </p:nvSpPr>
        <p:spPr>
          <a:xfrm>
            <a:off x="4343400" y="2898720"/>
            <a:ext cx="382320" cy="382320"/>
          </a:xfrm>
          <a:prstGeom prst="ellipse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94" name="TextBox 10"/>
          <p:cNvSpPr/>
          <p:nvPr/>
        </p:nvSpPr>
        <p:spPr>
          <a:xfrm>
            <a:off x="4160520" y="1874520"/>
            <a:ext cx="2467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RNN/LSTM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1"/>
          <p:cNvSpPr/>
          <p:nvPr/>
        </p:nvSpPr>
        <p:spPr>
          <a:xfrm>
            <a:off x="4160520" y="3520440"/>
            <a:ext cx="246708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4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Memoria sequenziale, ma difficoltà su contesti lunghi.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Oval 12"/>
          <p:cNvSpPr/>
          <p:nvPr/>
        </p:nvSpPr>
        <p:spPr>
          <a:xfrm>
            <a:off x="7589520" y="2898720"/>
            <a:ext cx="382320" cy="382320"/>
          </a:xfrm>
          <a:prstGeom prst="ellipse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TextBox 13"/>
          <p:cNvSpPr/>
          <p:nvPr/>
        </p:nvSpPr>
        <p:spPr>
          <a:xfrm>
            <a:off x="7406640" y="1874520"/>
            <a:ext cx="2467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2017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4"/>
          <p:cNvSpPr/>
          <p:nvPr/>
        </p:nvSpPr>
        <p:spPr>
          <a:xfrm>
            <a:off x="7406640" y="3520440"/>
            <a:ext cx="246708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4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Transformer: “Attention Is All You Need”.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Oval 15"/>
          <p:cNvSpPr/>
          <p:nvPr/>
        </p:nvSpPr>
        <p:spPr>
          <a:xfrm>
            <a:off x="10835640" y="2898720"/>
            <a:ext cx="382320" cy="382320"/>
          </a:xfrm>
          <a:prstGeom prst="ellipse">
            <a:avLst/>
          </a:prstGeom>
          <a:solidFill>
            <a:srgbClr val="F197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00" name="TextBox 16"/>
          <p:cNvSpPr/>
          <p:nvPr/>
        </p:nvSpPr>
        <p:spPr>
          <a:xfrm>
            <a:off x="10131840" y="1874520"/>
            <a:ext cx="2467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F19734"/>
                </a:solidFill>
                <a:effectLst/>
                <a:uFillTx/>
                <a:latin typeface="Trebuchet MS"/>
              </a:rPr>
              <a:t>LLM moderni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7"/>
          <p:cNvSpPr/>
          <p:nvPr/>
        </p:nvSpPr>
        <p:spPr>
          <a:xfrm>
            <a:off x="9874800" y="3420000"/>
            <a:ext cx="246708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4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Pretraining su larga scala + instruction tuning + strumenti.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19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0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4" name="Picture 21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CONFRONTO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LLM ≠ motore di ricerca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09" name="Rounded Rectangle 5"/>
          <p:cNvSpPr/>
          <p:nvPr/>
        </p:nvSpPr>
        <p:spPr>
          <a:xfrm>
            <a:off x="731520" y="1783080"/>
            <a:ext cx="523332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960120" y="2057400"/>
            <a:ext cx="4776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Motore di ricerca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960120" y="2788920"/>
            <a:ext cx="47761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Trova e ordina documenti esistenti; può mostrare fonti aggiornate.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8"/>
          <p:cNvSpPr/>
          <p:nvPr/>
        </p:nvSpPr>
        <p:spPr>
          <a:xfrm>
            <a:off x="6194880" y="1783080"/>
            <a:ext cx="523332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6423480" y="2057400"/>
            <a:ext cx="4776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LLM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6423480" y="2788920"/>
            <a:ext cx="47761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Genera una risposta token dopo token usando pattern appresi e il contesto disponibile.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2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13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7" name="Picture 14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1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731520" y="685800"/>
            <a:ext cx="10954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02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731520" y="1828800"/>
            <a:ext cx="9873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Testo, token ed embedding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5"/>
          <p:cNvSpPr/>
          <p:nvPr/>
        </p:nvSpPr>
        <p:spPr>
          <a:xfrm>
            <a:off x="731520" y="3063240"/>
            <a:ext cx="8776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0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Prima del Transformer, dobbiamo trasformare le parole in numeri.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6"/>
          <p:cNvSpPr/>
          <p:nvPr/>
        </p:nvSpPr>
        <p:spPr>
          <a:xfrm>
            <a:off x="731520" y="5212080"/>
            <a:ext cx="2924280" cy="71280"/>
          </a:xfrm>
          <a:prstGeom prst="rect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24" name="Rectangle 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6" name="Picture 1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computer non “vede” le parole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32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Una rete neurale lavora con numeri. Il testo deve quindi essere convertito in unità discrete e poi in rappresentazioni numeriche.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34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Pipeline: testo → token → ID → vettori → rete neurale → probabilità.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8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TOKENIZZAZIONE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Che cos’è un token?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43" name="TextBox 5"/>
          <p:cNvSpPr/>
          <p:nvPr/>
        </p:nvSpPr>
        <p:spPr>
          <a:xfrm>
            <a:off x="868680" y="1737360"/>
            <a:ext cx="10422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22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“I modelli linguistici sono potenti.”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6"/>
          <p:cNvSpPr/>
          <p:nvPr/>
        </p:nvSpPr>
        <p:spPr>
          <a:xfrm>
            <a:off x="914400" y="2743200"/>
            <a:ext cx="638280" cy="684000"/>
          </a:xfrm>
          <a:prstGeom prst="roundRect">
            <a:avLst>
              <a:gd name="adj" fmla="val 16667"/>
            </a:avLst>
          </a:prstGeom>
          <a:solidFill>
            <a:srgbClr val="EB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987480" y="2953440"/>
            <a:ext cx="4921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8"/>
          <p:cNvSpPr/>
          <p:nvPr/>
        </p:nvSpPr>
        <p:spPr>
          <a:xfrm>
            <a:off x="1691640" y="2743200"/>
            <a:ext cx="2018880" cy="684000"/>
          </a:xfrm>
          <a:prstGeom prst="roundRect">
            <a:avLst>
              <a:gd name="adj" fmla="val 16667"/>
            </a:avLst>
          </a:prstGeom>
          <a:solidFill>
            <a:srgbClr val="F3ED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TextBox 9"/>
          <p:cNvSpPr/>
          <p:nvPr/>
        </p:nvSpPr>
        <p:spPr>
          <a:xfrm>
            <a:off x="1764720" y="2953440"/>
            <a:ext cx="1872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 modelli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10"/>
          <p:cNvSpPr/>
          <p:nvPr/>
        </p:nvSpPr>
        <p:spPr>
          <a:xfrm>
            <a:off x="3849480" y="2743200"/>
            <a:ext cx="1616760" cy="684000"/>
          </a:xfrm>
          <a:prstGeom prst="roundRect">
            <a:avLst>
              <a:gd name="adj" fmla="val 16667"/>
            </a:avLst>
          </a:prstGeom>
          <a:solidFill>
            <a:srgbClr val="EA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3922920" y="2953440"/>
            <a:ext cx="1470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 lingu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12"/>
          <p:cNvSpPr/>
          <p:nvPr/>
        </p:nvSpPr>
        <p:spPr>
          <a:xfrm>
            <a:off x="5605200" y="2743200"/>
            <a:ext cx="1616760" cy="684000"/>
          </a:xfrm>
          <a:prstGeom prst="roundRect">
            <a:avLst>
              <a:gd name="adj" fmla="val 16667"/>
            </a:avLst>
          </a:prstGeom>
          <a:solidFill>
            <a:srgbClr val="EB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51" name="TextBox 13"/>
          <p:cNvSpPr/>
          <p:nvPr/>
        </p:nvSpPr>
        <p:spPr>
          <a:xfrm>
            <a:off x="5678280" y="2953440"/>
            <a:ext cx="1470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istici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14"/>
          <p:cNvSpPr/>
          <p:nvPr/>
        </p:nvSpPr>
        <p:spPr>
          <a:xfrm>
            <a:off x="7360920" y="2743200"/>
            <a:ext cx="1415520" cy="684000"/>
          </a:xfrm>
          <a:prstGeom prst="roundRect">
            <a:avLst>
              <a:gd name="adj" fmla="val 16667"/>
            </a:avLst>
          </a:prstGeom>
          <a:solidFill>
            <a:srgbClr val="F3ED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53" name="TextBox 15"/>
          <p:cNvSpPr/>
          <p:nvPr/>
        </p:nvSpPr>
        <p:spPr>
          <a:xfrm>
            <a:off x="7434000" y="2953440"/>
            <a:ext cx="12693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 sono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16"/>
          <p:cNvSpPr/>
          <p:nvPr/>
        </p:nvSpPr>
        <p:spPr>
          <a:xfrm>
            <a:off x="8915400" y="2743200"/>
            <a:ext cx="2018880" cy="684000"/>
          </a:xfrm>
          <a:prstGeom prst="roundRect">
            <a:avLst>
              <a:gd name="adj" fmla="val 16667"/>
            </a:avLst>
          </a:prstGeom>
          <a:solidFill>
            <a:srgbClr val="EA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55" name="TextBox 17"/>
          <p:cNvSpPr/>
          <p:nvPr/>
        </p:nvSpPr>
        <p:spPr>
          <a:xfrm>
            <a:off x="8988480" y="2953440"/>
            <a:ext cx="1872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 potenti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8"/>
          <p:cNvSpPr/>
          <p:nvPr/>
        </p:nvSpPr>
        <p:spPr>
          <a:xfrm>
            <a:off x="11073240" y="2743200"/>
            <a:ext cx="638280" cy="684000"/>
          </a:xfrm>
          <a:prstGeom prst="roundRect">
            <a:avLst>
              <a:gd name="adj" fmla="val 16667"/>
            </a:avLst>
          </a:prstGeom>
          <a:solidFill>
            <a:srgbClr val="EB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57" name="TextBox 19"/>
          <p:cNvSpPr/>
          <p:nvPr/>
        </p:nvSpPr>
        <p:spPr>
          <a:xfrm>
            <a:off x="11146680" y="2953440"/>
            <a:ext cx="4921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0"/>
          <p:cNvSpPr/>
          <p:nvPr/>
        </p:nvSpPr>
        <p:spPr>
          <a:xfrm>
            <a:off x="1005840" y="4160520"/>
            <a:ext cx="101480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Un token può essere una parola, una parte di parola, un simbolo o uno spazio codificato.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22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23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1" name="Picture 24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FLUSSO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Dal testo agli ID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66" name="Rounded Rectangle 5"/>
          <p:cNvSpPr/>
          <p:nvPr/>
        </p:nvSpPr>
        <p:spPr>
          <a:xfrm>
            <a:off x="250236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257544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“Python è utile”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7"/>
          <p:cNvSpPr/>
          <p:nvPr/>
        </p:nvSpPr>
        <p:spPr>
          <a:xfrm>
            <a:off x="41666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8"/>
          <p:cNvSpPr/>
          <p:nvPr/>
        </p:nvSpPr>
        <p:spPr>
          <a:xfrm>
            <a:off x="43495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442260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Tokenizzazione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0"/>
          <p:cNvSpPr/>
          <p:nvPr/>
        </p:nvSpPr>
        <p:spPr>
          <a:xfrm>
            <a:off x="60134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ounded Rectangle 11"/>
          <p:cNvSpPr/>
          <p:nvPr/>
        </p:nvSpPr>
        <p:spPr>
          <a:xfrm>
            <a:off x="61963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3" name="TextBox 12"/>
          <p:cNvSpPr/>
          <p:nvPr/>
        </p:nvSpPr>
        <p:spPr>
          <a:xfrm>
            <a:off x="62697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[token₁, token₂, token₃]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3"/>
          <p:cNvSpPr/>
          <p:nvPr/>
        </p:nvSpPr>
        <p:spPr>
          <a:xfrm>
            <a:off x="786060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14"/>
          <p:cNvSpPr/>
          <p:nvPr/>
        </p:nvSpPr>
        <p:spPr>
          <a:xfrm>
            <a:off x="804348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81165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[15321, 382, 9210]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6"/>
          <p:cNvSpPr/>
          <p:nvPr/>
        </p:nvSpPr>
        <p:spPr>
          <a:xfrm>
            <a:off x="914400" y="4160520"/>
            <a:ext cx="103309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Gli ID sono indici nel vocabolario del tokenizer: da soli non esprimono significato.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1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ectangle 1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0" name="Picture 2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Embedding: dare geometria al linguaggio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85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86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Ogni token viene trasformato in un vettore: una lista di numeri reali. Durante il training, questi vettori vengono organizzati in modo che pattern e relazioni utili emergano nello spazio numerico.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88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Non esiste una singola coordinata “significato”: l’informazione è distribuita su molte dimensioni.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2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Posizione: l’ordine conta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97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“Il cane morde l’uomo” e “L’uomo morde il cane” contengono parole simili ma significati diversi. Il Transformer deve quindi conoscere anche la posizione dei token.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00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Le informazioni posizionali vengono combinate con gli embedding prima dei blocchi Transformer.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4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06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Context window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09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10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La context window è la quantità massima di token che il modello può considerare in una singola richiesta, includendo istruzioni, conversazione, documenti e output.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12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Un contesto più lungo aiuta, ma non garantisce che ogni dettaglio venga usato correttamente.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6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1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19" name="TextBox 3"/>
          <p:cNvSpPr/>
          <p:nvPr/>
        </p:nvSpPr>
        <p:spPr>
          <a:xfrm>
            <a:off x="731520" y="685800"/>
            <a:ext cx="10954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03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4"/>
          <p:cNvSpPr/>
          <p:nvPr/>
        </p:nvSpPr>
        <p:spPr>
          <a:xfrm>
            <a:off x="731520" y="1828800"/>
            <a:ext cx="9873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Transformer e meccanismo di attenzione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5"/>
          <p:cNvSpPr/>
          <p:nvPr/>
        </p:nvSpPr>
        <p:spPr>
          <a:xfrm>
            <a:off x="731520" y="3063240"/>
            <a:ext cx="8776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0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L’innovazione che ha reso possibile la scala degli LLM moderni.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6"/>
          <p:cNvSpPr/>
          <p:nvPr/>
        </p:nvSpPr>
        <p:spPr>
          <a:xfrm>
            <a:off x="731520" y="5212080"/>
            <a:ext cx="2924280" cy="71280"/>
          </a:xfrm>
          <a:prstGeom prst="rect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23" name="Rectangle 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Rectangle 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5" name="Picture 1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27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Transformer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30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31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Transformer è un’architettura di rete neurale progettata per elaborare sequenze usando soprattutto meccanismi di attenzione.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33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grande vantaggio: può mettere in relazione token lontani e parallelizzare molto meglio il training rispetto alle vecchie reti ricorrenti.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7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39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IDEA FONDAMENTALE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Attention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42" name="TextBox 5"/>
          <p:cNvSpPr/>
          <p:nvPr/>
        </p:nvSpPr>
        <p:spPr>
          <a:xfrm>
            <a:off x="914400" y="2011680"/>
            <a:ext cx="10330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38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“A quali parti del contesto devo prestare più attenzione per elaborare questo token?”</a:t>
            </a:r>
            <a:endParaRPr lang="it-I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6"/>
          <p:cNvSpPr/>
          <p:nvPr/>
        </p:nvSpPr>
        <p:spPr>
          <a:xfrm>
            <a:off x="1828800" y="3337560"/>
            <a:ext cx="850212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20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Non è attenzione cosciente: è un calcolo matematico di pesi tra rappresentazioni.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7"/>
          <p:cNvSpPr/>
          <p:nvPr/>
        </p:nvSpPr>
        <p:spPr>
          <a:xfrm>
            <a:off x="3383280" y="4800600"/>
            <a:ext cx="5393160" cy="63828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45" name="TextBox 8"/>
          <p:cNvSpPr/>
          <p:nvPr/>
        </p:nvSpPr>
        <p:spPr>
          <a:xfrm>
            <a:off x="3566160" y="4992480"/>
            <a:ext cx="5027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input → probabilità → token → nuovo contesto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0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11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48" name="Picture 12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50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SELF-ATTENTION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Esempio intuitivo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53" name="TextBox 5"/>
          <p:cNvSpPr/>
          <p:nvPr/>
        </p:nvSpPr>
        <p:spPr>
          <a:xfrm>
            <a:off x="868680" y="1783080"/>
            <a:ext cx="1042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23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“Marco ha lasciato il portatile sul tavolo perché era scarico.”</a:t>
            </a:r>
            <a:endParaRPr lang="it-IT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6"/>
          <p:cNvSpPr/>
          <p:nvPr/>
        </p:nvSpPr>
        <p:spPr>
          <a:xfrm>
            <a:off x="822960" y="2743200"/>
            <a:ext cx="1324080" cy="5925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55" name="TextBox 7"/>
          <p:cNvSpPr/>
          <p:nvPr/>
        </p:nvSpPr>
        <p:spPr>
          <a:xfrm>
            <a:off x="868680" y="2926080"/>
            <a:ext cx="1232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3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Marco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8"/>
          <p:cNvSpPr/>
          <p:nvPr/>
        </p:nvSpPr>
        <p:spPr>
          <a:xfrm>
            <a:off x="2286000" y="2743200"/>
            <a:ext cx="1324080" cy="5925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57" name="TextBox 9"/>
          <p:cNvSpPr/>
          <p:nvPr/>
        </p:nvSpPr>
        <p:spPr>
          <a:xfrm>
            <a:off x="2331720" y="2926080"/>
            <a:ext cx="1232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3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ha lasciato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10"/>
          <p:cNvSpPr/>
          <p:nvPr/>
        </p:nvSpPr>
        <p:spPr>
          <a:xfrm>
            <a:off x="3886200" y="2743200"/>
            <a:ext cx="1598400" cy="5925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59" name="TextBox 11"/>
          <p:cNvSpPr/>
          <p:nvPr/>
        </p:nvSpPr>
        <p:spPr>
          <a:xfrm>
            <a:off x="3931920" y="2926080"/>
            <a:ext cx="15069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3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portatile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12"/>
          <p:cNvSpPr/>
          <p:nvPr/>
        </p:nvSpPr>
        <p:spPr>
          <a:xfrm>
            <a:off x="5806440" y="2743200"/>
            <a:ext cx="1324080" cy="5925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61" name="TextBox 13"/>
          <p:cNvSpPr/>
          <p:nvPr/>
        </p:nvSpPr>
        <p:spPr>
          <a:xfrm>
            <a:off x="5852160" y="2926080"/>
            <a:ext cx="1232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3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sul tavolo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14"/>
          <p:cNvSpPr/>
          <p:nvPr/>
        </p:nvSpPr>
        <p:spPr>
          <a:xfrm>
            <a:off x="7589520" y="2743200"/>
            <a:ext cx="1324080" cy="5925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63" name="TextBox 15"/>
          <p:cNvSpPr/>
          <p:nvPr/>
        </p:nvSpPr>
        <p:spPr>
          <a:xfrm>
            <a:off x="7635240" y="2926080"/>
            <a:ext cx="1232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3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perché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16"/>
          <p:cNvSpPr/>
          <p:nvPr/>
        </p:nvSpPr>
        <p:spPr>
          <a:xfrm>
            <a:off x="8823960" y="2743200"/>
            <a:ext cx="1324080" cy="5925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65" name="TextBox 17"/>
          <p:cNvSpPr/>
          <p:nvPr/>
        </p:nvSpPr>
        <p:spPr>
          <a:xfrm>
            <a:off x="8869680" y="2926080"/>
            <a:ext cx="1232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3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era scarico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8"/>
          <p:cNvSpPr/>
          <p:nvPr/>
        </p:nvSpPr>
        <p:spPr>
          <a:xfrm>
            <a:off x="4114800" y="3749040"/>
            <a:ext cx="20098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↑ relazione forte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19"/>
          <p:cNvSpPr/>
          <p:nvPr/>
        </p:nvSpPr>
        <p:spPr>
          <a:xfrm>
            <a:off x="1097280" y="4617720"/>
            <a:ext cx="99651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Per interpretare “era scarico”, il modello può assegnare più peso a “portatile” che a “tavolo”.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2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ectangle 2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70" name="Picture 2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72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MECCANISMO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Query, Key, Value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75" name="Rounded Rectangle 5"/>
          <p:cNvSpPr/>
          <p:nvPr/>
        </p:nvSpPr>
        <p:spPr>
          <a:xfrm>
            <a:off x="914400" y="1828800"/>
            <a:ext cx="3244320" cy="21927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76" name="TextBox 6"/>
          <p:cNvSpPr/>
          <p:nvPr/>
        </p:nvSpPr>
        <p:spPr>
          <a:xfrm>
            <a:off x="1097280" y="2148840"/>
            <a:ext cx="2878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QUERY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7"/>
          <p:cNvSpPr/>
          <p:nvPr/>
        </p:nvSpPr>
        <p:spPr>
          <a:xfrm>
            <a:off x="1188720" y="2834640"/>
            <a:ext cx="26956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Che cosa sto cercando?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8"/>
          <p:cNvSpPr/>
          <p:nvPr/>
        </p:nvSpPr>
        <p:spPr>
          <a:xfrm>
            <a:off x="4617720" y="1828800"/>
            <a:ext cx="3244320" cy="21927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79" name="TextBox 9"/>
          <p:cNvSpPr/>
          <p:nvPr/>
        </p:nvSpPr>
        <p:spPr>
          <a:xfrm>
            <a:off x="4800600" y="2148840"/>
            <a:ext cx="2878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KEY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0"/>
          <p:cNvSpPr/>
          <p:nvPr/>
        </p:nvSpPr>
        <p:spPr>
          <a:xfrm>
            <a:off x="4892040" y="2834640"/>
            <a:ext cx="26956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Che cosa offre ogni token?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11"/>
          <p:cNvSpPr/>
          <p:nvPr/>
        </p:nvSpPr>
        <p:spPr>
          <a:xfrm>
            <a:off x="8321040" y="1828800"/>
            <a:ext cx="3244320" cy="2192760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82" name="TextBox 12"/>
          <p:cNvSpPr/>
          <p:nvPr/>
        </p:nvSpPr>
        <p:spPr>
          <a:xfrm>
            <a:off x="8503920" y="2148840"/>
            <a:ext cx="2878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VALUE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3"/>
          <p:cNvSpPr/>
          <p:nvPr/>
        </p:nvSpPr>
        <p:spPr>
          <a:xfrm>
            <a:off x="8595360" y="2834640"/>
            <a:ext cx="26956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Quale informazione trasferisco?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4"/>
          <p:cNvSpPr/>
          <p:nvPr/>
        </p:nvSpPr>
        <p:spPr>
          <a:xfrm>
            <a:off x="1005840" y="4800600"/>
            <a:ext cx="10148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L’attenzione confronta Query e Key, calcola pesi e combina i Value.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16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Rectangle 17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7" name="Picture 18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89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Self-attention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92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93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Nella self-attention, i token di una stessa sequenza interagiscono tra loro. Ogni posizione costruisce una nuova rappresentazione usando informazioni dalle altre posizioni rilevanti.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95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È uno dei motivi per cui il significato di una parola può cambiare in base al contesto.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99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01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Multi-head attention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04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05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Transformer usa più “teste” di attenzione in parallelo. Teste diverse possono specializzarsi in relazioni differenti: sintassi, riferimenti, dipendenze locali o pattern più astratti.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07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Non dobbiamo interpretare ogni testa come una regola umana precisa: sono rappresentazioni apprese.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1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1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SCHEMA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Dentro un blocco Transformer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16" name="Rounded Rectangle 5"/>
          <p:cNvSpPr/>
          <p:nvPr/>
        </p:nvSpPr>
        <p:spPr>
          <a:xfrm>
            <a:off x="9111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17" name="TextBox 6"/>
          <p:cNvSpPr/>
          <p:nvPr/>
        </p:nvSpPr>
        <p:spPr>
          <a:xfrm>
            <a:off x="10940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INPUT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7"/>
          <p:cNvSpPr/>
          <p:nvPr/>
        </p:nvSpPr>
        <p:spPr>
          <a:xfrm>
            <a:off x="10940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Embedding + posizione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ounded Rectangle 8"/>
          <p:cNvSpPr/>
          <p:nvPr/>
        </p:nvSpPr>
        <p:spPr>
          <a:xfrm>
            <a:off x="35902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20" name="TextBox 9"/>
          <p:cNvSpPr/>
          <p:nvPr/>
        </p:nvSpPr>
        <p:spPr>
          <a:xfrm>
            <a:off x="37731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ATTENTION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37731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Relazioni tra token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ounded Rectangle 11"/>
          <p:cNvSpPr/>
          <p:nvPr/>
        </p:nvSpPr>
        <p:spPr>
          <a:xfrm>
            <a:off x="62697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23" name="TextBox 12"/>
          <p:cNvSpPr/>
          <p:nvPr/>
        </p:nvSpPr>
        <p:spPr>
          <a:xfrm>
            <a:off x="64526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FFN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3"/>
          <p:cNvSpPr/>
          <p:nvPr/>
        </p:nvSpPr>
        <p:spPr>
          <a:xfrm>
            <a:off x="64526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Trasformazioni non lineari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14"/>
          <p:cNvSpPr/>
          <p:nvPr/>
        </p:nvSpPr>
        <p:spPr>
          <a:xfrm>
            <a:off x="89488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26" name="TextBox 15"/>
          <p:cNvSpPr/>
          <p:nvPr/>
        </p:nvSpPr>
        <p:spPr>
          <a:xfrm>
            <a:off x="91317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F19734"/>
                </a:solidFill>
                <a:effectLst/>
                <a:uFillTx/>
                <a:latin typeface="Trebuchet MS"/>
              </a:rPr>
              <a:t>OUTPUT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6"/>
          <p:cNvSpPr/>
          <p:nvPr/>
        </p:nvSpPr>
        <p:spPr>
          <a:xfrm>
            <a:off x="91317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Rappresentazioni aggiornate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7"/>
          <p:cNvSpPr/>
          <p:nvPr/>
        </p:nvSpPr>
        <p:spPr>
          <a:xfrm>
            <a:off x="1005840" y="4983480"/>
            <a:ext cx="10148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Residual connection e normalizzazione aiutano la stabilità del training.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19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Rectangle 20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31" name="Picture 21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3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FLUSSO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Dal prompt al prossimo token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36" name="Rounded Rectangle 5"/>
          <p:cNvSpPr/>
          <p:nvPr/>
        </p:nvSpPr>
        <p:spPr>
          <a:xfrm>
            <a:off x="65520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37" name="TextBox 6"/>
          <p:cNvSpPr/>
          <p:nvPr/>
        </p:nvSpPr>
        <p:spPr>
          <a:xfrm>
            <a:off x="72828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Prompt tokenizzato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7"/>
          <p:cNvSpPr/>
          <p:nvPr/>
        </p:nvSpPr>
        <p:spPr>
          <a:xfrm>
            <a:off x="231948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Rounded Rectangle 8"/>
          <p:cNvSpPr/>
          <p:nvPr/>
        </p:nvSpPr>
        <p:spPr>
          <a:xfrm>
            <a:off x="250236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40" name="TextBox 9"/>
          <p:cNvSpPr/>
          <p:nvPr/>
        </p:nvSpPr>
        <p:spPr>
          <a:xfrm>
            <a:off x="257544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Embedding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0"/>
          <p:cNvSpPr/>
          <p:nvPr/>
        </p:nvSpPr>
        <p:spPr>
          <a:xfrm>
            <a:off x="41666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ounded Rectangle 11"/>
          <p:cNvSpPr/>
          <p:nvPr/>
        </p:nvSpPr>
        <p:spPr>
          <a:xfrm>
            <a:off x="43495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43" name="TextBox 12"/>
          <p:cNvSpPr/>
          <p:nvPr/>
        </p:nvSpPr>
        <p:spPr>
          <a:xfrm>
            <a:off x="442260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N blocchi Transformer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13"/>
          <p:cNvSpPr/>
          <p:nvPr/>
        </p:nvSpPr>
        <p:spPr>
          <a:xfrm>
            <a:off x="60134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14"/>
          <p:cNvSpPr/>
          <p:nvPr/>
        </p:nvSpPr>
        <p:spPr>
          <a:xfrm>
            <a:off x="61963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46" name="TextBox 15"/>
          <p:cNvSpPr/>
          <p:nvPr/>
        </p:nvSpPr>
        <p:spPr>
          <a:xfrm>
            <a:off x="62697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Logits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16"/>
          <p:cNvSpPr/>
          <p:nvPr/>
        </p:nvSpPr>
        <p:spPr>
          <a:xfrm>
            <a:off x="786060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ounded Rectangle 17"/>
          <p:cNvSpPr/>
          <p:nvPr/>
        </p:nvSpPr>
        <p:spPr>
          <a:xfrm>
            <a:off x="804348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49" name="TextBox 18"/>
          <p:cNvSpPr/>
          <p:nvPr/>
        </p:nvSpPr>
        <p:spPr>
          <a:xfrm>
            <a:off x="81165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Probabilità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19"/>
          <p:cNvSpPr/>
          <p:nvPr/>
        </p:nvSpPr>
        <p:spPr>
          <a:xfrm>
            <a:off x="970776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ounded Rectangle 20"/>
          <p:cNvSpPr/>
          <p:nvPr/>
        </p:nvSpPr>
        <p:spPr>
          <a:xfrm>
            <a:off x="989064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52" name="TextBox 21"/>
          <p:cNvSpPr/>
          <p:nvPr/>
        </p:nvSpPr>
        <p:spPr>
          <a:xfrm>
            <a:off x="996372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Scelta del token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22"/>
          <p:cNvSpPr/>
          <p:nvPr/>
        </p:nvSpPr>
        <p:spPr>
          <a:xfrm>
            <a:off x="914400" y="4160520"/>
            <a:ext cx="103309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ciclo ricomincia aggiungendo il token scelto al contesto.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24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Rectangle 25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56" name="Picture 26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5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59" name="TextBox 3"/>
          <p:cNvSpPr/>
          <p:nvPr/>
        </p:nvSpPr>
        <p:spPr>
          <a:xfrm>
            <a:off x="731520" y="685800"/>
            <a:ext cx="10954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04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4"/>
          <p:cNvSpPr/>
          <p:nvPr/>
        </p:nvSpPr>
        <p:spPr>
          <a:xfrm>
            <a:off x="731520" y="1828800"/>
            <a:ext cx="9873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Come si addestra un LLM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5"/>
          <p:cNvSpPr/>
          <p:nvPr/>
        </p:nvSpPr>
        <p:spPr>
          <a:xfrm>
            <a:off x="731520" y="3063240"/>
            <a:ext cx="8776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0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Dai dati grezzi a un assistente capace di seguire istruzioni.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6"/>
          <p:cNvSpPr/>
          <p:nvPr/>
        </p:nvSpPr>
        <p:spPr>
          <a:xfrm>
            <a:off x="731520" y="5212080"/>
            <a:ext cx="2924280" cy="71280"/>
          </a:xfrm>
          <a:prstGeom prst="rect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63" name="Rectangle 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Rectangle 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5" name="Picture 1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67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Pretraining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0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1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Nel pretraining il modello vede enormi quantità di sequenze e impara a prevedere token mancanti o successivi, a seconda dell’architettura.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3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L’obiettivo non è insegnare manualmente ogni fatto: è far emergere rappresentazioni generali del linguaggio e dei pattern nei dati.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77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9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FLUSSO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ciclo di apprendimento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2" name="Rounded Rectangle 5"/>
          <p:cNvSpPr/>
          <p:nvPr/>
        </p:nvSpPr>
        <p:spPr>
          <a:xfrm>
            <a:off x="65520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3" name="TextBox 6"/>
          <p:cNvSpPr/>
          <p:nvPr/>
        </p:nvSpPr>
        <p:spPr>
          <a:xfrm>
            <a:off x="72828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Input di training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7"/>
          <p:cNvSpPr/>
          <p:nvPr/>
        </p:nvSpPr>
        <p:spPr>
          <a:xfrm>
            <a:off x="231948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ounded Rectangle 8"/>
          <p:cNvSpPr/>
          <p:nvPr/>
        </p:nvSpPr>
        <p:spPr>
          <a:xfrm>
            <a:off x="250236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6" name="TextBox 9"/>
          <p:cNvSpPr/>
          <p:nvPr/>
        </p:nvSpPr>
        <p:spPr>
          <a:xfrm>
            <a:off x="257544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Predizione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10"/>
          <p:cNvSpPr/>
          <p:nvPr/>
        </p:nvSpPr>
        <p:spPr>
          <a:xfrm>
            <a:off x="41666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ounded Rectangle 11"/>
          <p:cNvSpPr/>
          <p:nvPr/>
        </p:nvSpPr>
        <p:spPr>
          <a:xfrm>
            <a:off x="43495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9" name="TextBox 12"/>
          <p:cNvSpPr/>
          <p:nvPr/>
        </p:nvSpPr>
        <p:spPr>
          <a:xfrm>
            <a:off x="442260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Calcolo della loss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13"/>
          <p:cNvSpPr/>
          <p:nvPr/>
        </p:nvSpPr>
        <p:spPr>
          <a:xfrm>
            <a:off x="60134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ounded Rectangle 14"/>
          <p:cNvSpPr/>
          <p:nvPr/>
        </p:nvSpPr>
        <p:spPr>
          <a:xfrm>
            <a:off x="61963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92" name="TextBox 15"/>
          <p:cNvSpPr/>
          <p:nvPr/>
        </p:nvSpPr>
        <p:spPr>
          <a:xfrm>
            <a:off x="62697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Backpropagation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16"/>
          <p:cNvSpPr/>
          <p:nvPr/>
        </p:nvSpPr>
        <p:spPr>
          <a:xfrm>
            <a:off x="786060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ounded Rectangle 17"/>
          <p:cNvSpPr/>
          <p:nvPr/>
        </p:nvSpPr>
        <p:spPr>
          <a:xfrm>
            <a:off x="804348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95" name="TextBox 18"/>
          <p:cNvSpPr/>
          <p:nvPr/>
        </p:nvSpPr>
        <p:spPr>
          <a:xfrm>
            <a:off x="81165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Aggiornamento pesi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19"/>
          <p:cNvSpPr/>
          <p:nvPr/>
        </p:nvSpPr>
        <p:spPr>
          <a:xfrm>
            <a:off x="970776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20"/>
          <p:cNvSpPr/>
          <p:nvPr/>
        </p:nvSpPr>
        <p:spPr>
          <a:xfrm>
            <a:off x="989064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98" name="TextBox 21"/>
          <p:cNvSpPr/>
          <p:nvPr/>
        </p:nvSpPr>
        <p:spPr>
          <a:xfrm>
            <a:off x="996372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Ripeti milioni/miliardi di volte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22"/>
          <p:cNvSpPr/>
          <p:nvPr/>
        </p:nvSpPr>
        <p:spPr>
          <a:xfrm>
            <a:off x="914400" y="4160520"/>
            <a:ext cx="103309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modello modifica gradualmente i parametri per rendere più probabili le continuazioni corrette.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24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Rectangle 25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02" name="Picture 26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04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Backpropagation e gradient descent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07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08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La backpropagation calcola come ogni parametro ha contribuito all’errore. Un ottimizzatore usa questi gradienti per aggiornare i pesi in una direzione che riduce la loss.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0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È apprendimento numerico iterativo, non memorizzazione esplicita di regole scritte da un programmatore.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14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6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Dati: quantità e qualità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9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20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training può includere testo pubblico, dati licenziati, codice, documenti e dataset costruiti appositamente. Filtraggio, deduplicazione e qualità influenzano fortemente il risultato.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22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Bias e lacune nei dati possono riflettersi nel comportamento del modello.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6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28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Instruction tuning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31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32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Dopo il pretraining, il modello può essere addestrato su esempi di istruzione → risposta per imparare a seguire richieste in modo più utile e strutturato.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34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Questo trasforma un “completatore di testo” generale in un assistente più controllabile.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38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40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CONFRONTO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Pretraining vs Fine-tuning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43" name="Rounded Rectangle 5"/>
          <p:cNvSpPr/>
          <p:nvPr/>
        </p:nvSpPr>
        <p:spPr>
          <a:xfrm>
            <a:off x="731520" y="1783080"/>
            <a:ext cx="523332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44" name="TextBox 6"/>
          <p:cNvSpPr/>
          <p:nvPr/>
        </p:nvSpPr>
        <p:spPr>
          <a:xfrm>
            <a:off x="960120" y="2057400"/>
            <a:ext cx="4776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Pretraining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7"/>
          <p:cNvSpPr/>
          <p:nvPr/>
        </p:nvSpPr>
        <p:spPr>
          <a:xfrm>
            <a:off x="960120" y="2788920"/>
            <a:ext cx="47761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Apprendimento generale su grandi corpora. Costoso, lungo, costruisce capacità di base.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ounded Rectangle 8"/>
          <p:cNvSpPr/>
          <p:nvPr/>
        </p:nvSpPr>
        <p:spPr>
          <a:xfrm>
            <a:off x="6194880" y="1783080"/>
            <a:ext cx="523332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47" name="TextBox 9"/>
          <p:cNvSpPr/>
          <p:nvPr/>
        </p:nvSpPr>
        <p:spPr>
          <a:xfrm>
            <a:off x="6423480" y="2057400"/>
            <a:ext cx="4776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Fine-tuning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10"/>
          <p:cNvSpPr/>
          <p:nvPr/>
        </p:nvSpPr>
        <p:spPr>
          <a:xfrm>
            <a:off x="6423480" y="2788920"/>
            <a:ext cx="47761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Adattamento successivo su dati più specifici per stile, dominio o compito.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ectangle 12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Rectangle 13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51" name="Picture 14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5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Fine-tuning non è RAG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56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57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Fine-tuning modifica i pesi del modello. RAG recupera informazioni esterne e le inserisce nel contesto al momento della richiesta.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59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Per conoscenza aziendale aggiornata, spesso RAG è più adatto che “insegnare” ogni documento nei pesi.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63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6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66" name="TextBox 3"/>
          <p:cNvSpPr/>
          <p:nvPr/>
        </p:nvSpPr>
        <p:spPr>
          <a:xfrm>
            <a:off x="731520" y="685800"/>
            <a:ext cx="10954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05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4"/>
          <p:cNvSpPr/>
          <p:nvPr/>
        </p:nvSpPr>
        <p:spPr>
          <a:xfrm>
            <a:off x="731520" y="1828800"/>
            <a:ext cx="9873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Inferenza: come nasce una risposta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5"/>
          <p:cNvSpPr/>
          <p:nvPr/>
        </p:nvSpPr>
        <p:spPr>
          <a:xfrm>
            <a:off x="731520" y="3063240"/>
            <a:ext cx="8776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0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Il training è finito. Ora arriva il prompt dell’utente.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6"/>
          <p:cNvSpPr/>
          <p:nvPr/>
        </p:nvSpPr>
        <p:spPr>
          <a:xfrm>
            <a:off x="731520" y="5212080"/>
            <a:ext cx="2924280" cy="71280"/>
          </a:xfrm>
          <a:prstGeom prst="rect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70" name="Rectangle 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Rectangle 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72" name="Picture 1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74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Inferenza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77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78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L’inferenza è la fase in cui usiamo un modello già addestrato. Il modello riceve il contesto, calcola le probabilità del prossimo token e genera la risposta.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80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Training = imparare i parametri. Inferenza = usare quei parametri.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84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86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CONFRONTO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Temperature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89" name="Rounded Rectangle 5"/>
          <p:cNvSpPr/>
          <p:nvPr/>
        </p:nvSpPr>
        <p:spPr>
          <a:xfrm>
            <a:off x="731520" y="1783080"/>
            <a:ext cx="523332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90" name="TextBox 6"/>
          <p:cNvSpPr/>
          <p:nvPr/>
        </p:nvSpPr>
        <p:spPr>
          <a:xfrm>
            <a:off x="960120" y="2057400"/>
            <a:ext cx="4776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Bassa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7"/>
          <p:cNvSpPr/>
          <p:nvPr/>
        </p:nvSpPr>
        <p:spPr>
          <a:xfrm>
            <a:off x="960120" y="2788920"/>
            <a:ext cx="47761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Output più conservativo e ripetibile; tende a privilegiare token molto probabili.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ounded Rectangle 8"/>
          <p:cNvSpPr/>
          <p:nvPr/>
        </p:nvSpPr>
        <p:spPr>
          <a:xfrm>
            <a:off x="6194880" y="1783080"/>
            <a:ext cx="5233320" cy="406728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93" name="TextBox 9"/>
          <p:cNvSpPr/>
          <p:nvPr/>
        </p:nvSpPr>
        <p:spPr>
          <a:xfrm>
            <a:off x="6423480" y="2057400"/>
            <a:ext cx="4776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Alta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10"/>
          <p:cNvSpPr/>
          <p:nvPr/>
        </p:nvSpPr>
        <p:spPr>
          <a:xfrm>
            <a:off x="6423480" y="2788920"/>
            <a:ext cx="47761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Più varietà e creatività, ma anche maggiore rischio di deviazioni o incoerenza.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12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6" name="Rectangle 13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97" name="Picture 14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99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Sampling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02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03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La generazione può campionare dalla distribuzione dei token invece di scegliere sempre il massimo. Tecniche come top-p limitano il campionamento ai token che concentrano la maggior parte della probabilità.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05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Per questo due risposte allo stesso prompt possono differire.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8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9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11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Prompt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14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15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Il prompt è il contesto che orienta il comportamento del modello: istruzioni, dati, esempi, vincoli e domanda.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17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Un buon prompt riduce ambiguità; non “programma” magicamente il modello né garantisce correttezza.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1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2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SCHEMA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Anatomia di un buon prompt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26" name="Rounded Rectangle 5"/>
          <p:cNvSpPr/>
          <p:nvPr/>
        </p:nvSpPr>
        <p:spPr>
          <a:xfrm>
            <a:off x="9111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27" name="TextBox 6"/>
          <p:cNvSpPr/>
          <p:nvPr/>
        </p:nvSpPr>
        <p:spPr>
          <a:xfrm>
            <a:off x="10940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RUOLO/OBIETTIVO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Box 7"/>
          <p:cNvSpPr/>
          <p:nvPr/>
        </p:nvSpPr>
        <p:spPr>
          <a:xfrm>
            <a:off x="10940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Che cosa deve fare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Rounded Rectangle 8"/>
          <p:cNvSpPr/>
          <p:nvPr/>
        </p:nvSpPr>
        <p:spPr>
          <a:xfrm>
            <a:off x="35902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30" name="TextBox 9"/>
          <p:cNvSpPr/>
          <p:nvPr/>
        </p:nvSpPr>
        <p:spPr>
          <a:xfrm>
            <a:off x="37731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CONTESTO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10"/>
          <p:cNvSpPr/>
          <p:nvPr/>
        </p:nvSpPr>
        <p:spPr>
          <a:xfrm>
            <a:off x="37731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Informazioni necessarie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Rounded Rectangle 11"/>
          <p:cNvSpPr/>
          <p:nvPr/>
        </p:nvSpPr>
        <p:spPr>
          <a:xfrm>
            <a:off x="62697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33" name="TextBox 12"/>
          <p:cNvSpPr/>
          <p:nvPr/>
        </p:nvSpPr>
        <p:spPr>
          <a:xfrm>
            <a:off x="64526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VINCOLI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13"/>
          <p:cNvSpPr/>
          <p:nvPr/>
        </p:nvSpPr>
        <p:spPr>
          <a:xfrm>
            <a:off x="64526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Cosa rispettare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Rounded Rectangle 14"/>
          <p:cNvSpPr/>
          <p:nvPr/>
        </p:nvSpPr>
        <p:spPr>
          <a:xfrm>
            <a:off x="89488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36" name="TextBox 15"/>
          <p:cNvSpPr/>
          <p:nvPr/>
        </p:nvSpPr>
        <p:spPr>
          <a:xfrm>
            <a:off x="91317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F19734"/>
                </a:solidFill>
                <a:effectLst/>
                <a:uFillTx/>
                <a:latin typeface="Trebuchet MS"/>
              </a:rPr>
              <a:t>OUTPUT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16"/>
          <p:cNvSpPr/>
          <p:nvPr/>
        </p:nvSpPr>
        <p:spPr>
          <a:xfrm>
            <a:off x="91317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Formato atteso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17"/>
          <p:cNvSpPr/>
          <p:nvPr/>
        </p:nvSpPr>
        <p:spPr>
          <a:xfrm>
            <a:off x="1005840" y="4983480"/>
            <a:ext cx="10148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Aggiungere esempi è utile quando il formato o il criterio è difficile da descrivere.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ectangle 19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Rectangle 20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1" name="Picture 21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4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Tool use / function calling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46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47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 LLM può essere collegato a strumenti esterni: database, ricerca web, calendario, codice, API. Il modello decide o propone quale strumento usare e il software esegue realmente l’azione.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49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modello da solo non “entra” in un database: serve un’integrazione software.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2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3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55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FLUSSO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LLM + strumenti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58" name="Rounded Rectangle 5"/>
          <p:cNvSpPr/>
          <p:nvPr/>
        </p:nvSpPr>
        <p:spPr>
          <a:xfrm>
            <a:off x="65520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59" name="TextBox 6"/>
          <p:cNvSpPr/>
          <p:nvPr/>
        </p:nvSpPr>
        <p:spPr>
          <a:xfrm>
            <a:off x="72828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Utente chiede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7"/>
          <p:cNvSpPr/>
          <p:nvPr/>
        </p:nvSpPr>
        <p:spPr>
          <a:xfrm>
            <a:off x="231948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Rounded Rectangle 8"/>
          <p:cNvSpPr/>
          <p:nvPr/>
        </p:nvSpPr>
        <p:spPr>
          <a:xfrm>
            <a:off x="250236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62" name="TextBox 9"/>
          <p:cNvSpPr/>
          <p:nvPr/>
        </p:nvSpPr>
        <p:spPr>
          <a:xfrm>
            <a:off x="257544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LLM interpreta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10"/>
          <p:cNvSpPr/>
          <p:nvPr/>
        </p:nvSpPr>
        <p:spPr>
          <a:xfrm>
            <a:off x="41666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Rounded Rectangle 11"/>
          <p:cNvSpPr/>
          <p:nvPr/>
        </p:nvSpPr>
        <p:spPr>
          <a:xfrm>
            <a:off x="43495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65" name="TextBox 12"/>
          <p:cNvSpPr/>
          <p:nvPr/>
        </p:nvSpPr>
        <p:spPr>
          <a:xfrm>
            <a:off x="442260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Selezione tool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13"/>
          <p:cNvSpPr/>
          <p:nvPr/>
        </p:nvSpPr>
        <p:spPr>
          <a:xfrm>
            <a:off x="60134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Rounded Rectangle 14"/>
          <p:cNvSpPr/>
          <p:nvPr/>
        </p:nvSpPr>
        <p:spPr>
          <a:xfrm>
            <a:off x="61963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68" name="TextBox 15"/>
          <p:cNvSpPr/>
          <p:nvPr/>
        </p:nvSpPr>
        <p:spPr>
          <a:xfrm>
            <a:off x="62697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Software esegue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16"/>
          <p:cNvSpPr/>
          <p:nvPr/>
        </p:nvSpPr>
        <p:spPr>
          <a:xfrm>
            <a:off x="786060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ounded Rectangle 17"/>
          <p:cNvSpPr/>
          <p:nvPr/>
        </p:nvSpPr>
        <p:spPr>
          <a:xfrm>
            <a:off x="804348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71" name="TextBox 18"/>
          <p:cNvSpPr/>
          <p:nvPr/>
        </p:nvSpPr>
        <p:spPr>
          <a:xfrm>
            <a:off x="81165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Risultato torna al modello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19"/>
          <p:cNvSpPr/>
          <p:nvPr/>
        </p:nvSpPr>
        <p:spPr>
          <a:xfrm>
            <a:off x="970776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Rounded Rectangle 20"/>
          <p:cNvSpPr/>
          <p:nvPr/>
        </p:nvSpPr>
        <p:spPr>
          <a:xfrm>
            <a:off x="989064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74" name="TextBox 21"/>
          <p:cNvSpPr/>
          <p:nvPr/>
        </p:nvSpPr>
        <p:spPr>
          <a:xfrm>
            <a:off x="996372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Risposta finale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22"/>
          <p:cNvSpPr/>
          <p:nvPr/>
        </p:nvSpPr>
        <p:spPr>
          <a:xfrm>
            <a:off x="914400" y="4160520"/>
            <a:ext cx="103309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Qui nasce il passaggio da chatbot a agente/assistente operativo.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Rectangle 24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Rectangle 25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78" name="Picture 26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8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81" name="TextBox 3"/>
          <p:cNvSpPr/>
          <p:nvPr/>
        </p:nvSpPr>
        <p:spPr>
          <a:xfrm>
            <a:off x="731520" y="685800"/>
            <a:ext cx="10954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06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Box 4"/>
          <p:cNvSpPr/>
          <p:nvPr/>
        </p:nvSpPr>
        <p:spPr>
          <a:xfrm>
            <a:off x="731520" y="1828800"/>
            <a:ext cx="9873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Limiti, errori e uso responsabile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5"/>
          <p:cNvSpPr/>
          <p:nvPr/>
        </p:nvSpPr>
        <p:spPr>
          <a:xfrm>
            <a:off x="731520" y="3063240"/>
            <a:ext cx="8776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0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La parte più importante per usare bene un LLM.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Rectangle 6"/>
          <p:cNvSpPr/>
          <p:nvPr/>
        </p:nvSpPr>
        <p:spPr>
          <a:xfrm>
            <a:off x="731520" y="5212080"/>
            <a:ext cx="2924280" cy="71280"/>
          </a:xfrm>
          <a:prstGeom prst="rect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85" name="Rectangle 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Rectangle 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7" name="Picture 1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89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Allucinazioni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92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93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Un’allucinazione è una risposta generata che appare plausibile ma contiene informazioni false, inventate o non supportate.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695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Nasce dal fatto che l’obiettivo di generazione è produrre una continuazione plausibile, non consultare automaticamente una fonte di verità.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8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99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01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SCHEMA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Perché un LLM può sbagliare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04" name="Rounded Rectangle 5"/>
          <p:cNvSpPr/>
          <p:nvPr/>
        </p:nvSpPr>
        <p:spPr>
          <a:xfrm>
            <a:off x="9111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05" name="TextBox 6"/>
          <p:cNvSpPr/>
          <p:nvPr/>
        </p:nvSpPr>
        <p:spPr>
          <a:xfrm>
            <a:off x="10940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DATI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Box 7"/>
          <p:cNvSpPr/>
          <p:nvPr/>
        </p:nvSpPr>
        <p:spPr>
          <a:xfrm>
            <a:off x="10940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Incompleti o distorti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Rounded Rectangle 8"/>
          <p:cNvSpPr/>
          <p:nvPr/>
        </p:nvSpPr>
        <p:spPr>
          <a:xfrm>
            <a:off x="35902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08" name="TextBox 9"/>
          <p:cNvSpPr/>
          <p:nvPr/>
        </p:nvSpPr>
        <p:spPr>
          <a:xfrm>
            <a:off x="37731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784AD2"/>
                </a:solidFill>
                <a:effectLst/>
                <a:uFillTx/>
                <a:latin typeface="Trebuchet MS"/>
              </a:rPr>
              <a:t>CONTESTO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10"/>
          <p:cNvSpPr/>
          <p:nvPr/>
        </p:nvSpPr>
        <p:spPr>
          <a:xfrm>
            <a:off x="37731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Ambiguo o insufficiente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ounded Rectangle 11"/>
          <p:cNvSpPr/>
          <p:nvPr/>
        </p:nvSpPr>
        <p:spPr>
          <a:xfrm>
            <a:off x="626976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11" name="TextBox 12"/>
          <p:cNvSpPr/>
          <p:nvPr/>
        </p:nvSpPr>
        <p:spPr>
          <a:xfrm>
            <a:off x="645264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GENERAZIONE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13"/>
          <p:cNvSpPr/>
          <p:nvPr/>
        </p:nvSpPr>
        <p:spPr>
          <a:xfrm>
            <a:off x="645264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Probabilistica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Rounded Rectangle 14"/>
          <p:cNvSpPr/>
          <p:nvPr/>
        </p:nvSpPr>
        <p:spPr>
          <a:xfrm>
            <a:off x="8948880" y="1874520"/>
            <a:ext cx="2329920" cy="2512800"/>
          </a:xfrm>
          <a:prstGeom prst="roundRect">
            <a:avLst>
              <a:gd name="adj" fmla="val 16667"/>
            </a:avLst>
          </a:prstGeom>
          <a:solidFill>
            <a:srgbClr val="FFF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14" name="TextBox 15"/>
          <p:cNvSpPr/>
          <p:nvPr/>
        </p:nvSpPr>
        <p:spPr>
          <a:xfrm>
            <a:off x="9131760" y="2148840"/>
            <a:ext cx="196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600" b="1" u="none" strike="noStrike">
                <a:solidFill>
                  <a:srgbClr val="F19734"/>
                </a:solidFill>
                <a:effectLst/>
                <a:uFillTx/>
                <a:latin typeface="Trebuchet MS"/>
              </a:rPr>
              <a:t>VERIFICA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Box 16"/>
          <p:cNvSpPr/>
          <p:nvPr/>
        </p:nvSpPr>
        <p:spPr>
          <a:xfrm>
            <a:off x="9131760" y="2743200"/>
            <a:ext cx="196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5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Assente se non progettata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17"/>
          <p:cNvSpPr/>
          <p:nvPr/>
        </p:nvSpPr>
        <p:spPr>
          <a:xfrm>
            <a:off x="1005840" y="4983480"/>
            <a:ext cx="101480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La soluzione pratica è progettare controlli, fonti, retrieval, test e supervisione.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Rectangle 19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8" name="Rectangle 20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19" name="Picture 21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21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Bias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24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25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 modello può riprodurre o amplificare pattern problematici presenti nei dati o introdotti dal processo di training.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27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Valutare bias significa testare casi concreti, popolazioni e contesti d’uso: non basta una singola domanda.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0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1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33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Conoscenza e aggiornamento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36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37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 pesi del modello riflettono il training svolto fino a un certo momento. Per dati correnti servono fonti aggiornate, strumenti o retrieval.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39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Mai assumere che un LLM conosca automaticamente prezzi, normative, eventi o dati aziendali di oggi.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2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3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45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Privacy e dati sensibili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48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49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Prima di inviare dati a un modello occorre capire dove vengono elaborati, quali policy si applicano e se il caso d’uso consente quel trattamento.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51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Principio pratico: minimizzare i dati, rimuovere ciò che non serve e seguire le regole dell’organizzazione.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4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55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57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Prompt injection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60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61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Se un LLM legge contenuti esterni, quei contenuti possono includere istruzioni malevole che tentano di alterarne il comportamento.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63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 sistemi robusti separano istruzioni affidabili, dati non fidati, permessi e azioni realmente eseguibili.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6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67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69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Human in the loop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72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73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Per decisioni ad alto impatto, l’LLM dovrebbe supportare il lavoro umano, non sostituire automaticamente verifica, responsabilità e giudizio.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75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La soglia di supervisione deve crescere con il rischio dell’azione.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8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9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8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82" name="TextBox 3"/>
          <p:cNvSpPr/>
          <p:nvPr/>
        </p:nvSpPr>
        <p:spPr>
          <a:xfrm>
            <a:off x="731520" y="685800"/>
            <a:ext cx="10954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25BED2"/>
                </a:solidFill>
                <a:effectLst/>
                <a:uFillTx/>
                <a:latin typeface="Trebuchet MS"/>
              </a:rPr>
              <a:t>07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Box 4"/>
          <p:cNvSpPr/>
          <p:nvPr/>
        </p:nvSpPr>
        <p:spPr>
          <a:xfrm>
            <a:off x="731520" y="1828800"/>
            <a:ext cx="9873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34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LLM + Python</a:t>
            </a:r>
            <a:endParaRPr lang="it-IT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Box 5"/>
          <p:cNvSpPr/>
          <p:nvPr/>
        </p:nvSpPr>
        <p:spPr>
          <a:xfrm>
            <a:off x="731520" y="3063240"/>
            <a:ext cx="87764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900" b="0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Dalla teoria al codice: come li useremo nel corso.</a:t>
            </a:r>
            <a:endParaRPr lang="it-I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Rectangle 6"/>
          <p:cNvSpPr/>
          <p:nvPr/>
        </p:nvSpPr>
        <p:spPr>
          <a:xfrm>
            <a:off x="731520" y="5212080"/>
            <a:ext cx="2924280" cy="71280"/>
          </a:xfrm>
          <a:prstGeom prst="rect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86" name="Rectangle 8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7" name="Rectangle 9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88" name="Picture 10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90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Perché Python è perfetto per gli LLM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93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94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Python permette di chiamare API, manipolare dati, costruire pipeline, integrare database, creare RAG, automatizzare test e collegare strumenti AI ad applicazioni reali.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796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L’LLM diventa un componente software, non un’entità separata dal programma.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9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00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02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PYTHON PREVIEW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La logica di una chiamata API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05" name="Rounded Rectangle 5"/>
          <p:cNvSpPr/>
          <p:nvPr/>
        </p:nvSpPr>
        <p:spPr>
          <a:xfrm>
            <a:off x="822960" y="1737360"/>
            <a:ext cx="7130520" cy="4158720"/>
          </a:xfrm>
          <a:prstGeom prst="roundRect">
            <a:avLst>
              <a:gd name="adj" fmla="val 16667"/>
            </a:avLst>
          </a:prstGeom>
          <a:solidFill>
            <a:srgbClr val="131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06" name="TextBox 6"/>
          <p:cNvSpPr/>
          <p:nvPr/>
        </p:nvSpPr>
        <p:spPr>
          <a:xfrm>
            <a:off x="1143000" y="2057400"/>
            <a:ext cx="64904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E1EAF7"/>
                </a:solidFill>
                <a:effectLst/>
                <a:uFillTx/>
                <a:latin typeface="Trebuchet MS"/>
              </a:rPr>
              <a:t>client = AIClient(api_key="...")</a:t>
            </a:r>
            <a:br>
              <a:rPr sz="1800"/>
            </a:br>
            <a:br>
              <a:rPr sz="1800"/>
            </a:br>
            <a:r>
              <a:rPr lang="it-IT" sz="1600" b="0" u="none" strike="noStrike">
                <a:solidFill>
                  <a:srgbClr val="E1EAF7"/>
                </a:solidFill>
                <a:effectLst/>
                <a:uFillTx/>
                <a:latin typeface="Trebuchet MS"/>
              </a:rPr>
              <a:t>response = client.generate(</a:t>
            </a:r>
            <a:br>
              <a:rPr sz="1800"/>
            </a:br>
            <a:r>
              <a:rPr lang="it-IT" sz="1600" b="0" u="none" strike="noStrike">
                <a:solidFill>
                  <a:srgbClr val="E1EAF7"/>
                </a:solidFill>
                <a:effectLst/>
                <a:uFillTx/>
                <a:latin typeface="Trebuchet MS"/>
              </a:rPr>
              <a:t>    model="...",</a:t>
            </a:r>
            <a:br>
              <a:rPr sz="1800"/>
            </a:br>
            <a:r>
              <a:rPr lang="it-IT" sz="1600" b="0" u="none" strike="noStrike">
                <a:solidFill>
                  <a:srgbClr val="E1EAF7"/>
                </a:solidFill>
                <a:effectLst/>
                <a:uFillTx/>
                <a:latin typeface="Trebuchet MS"/>
              </a:rPr>
              <a:t>    input="Spiega le liste Python in 5 righe"</a:t>
            </a:r>
            <a:br>
              <a:rPr sz="1800"/>
            </a:br>
            <a:r>
              <a:rPr lang="it-IT" sz="1600" b="0" u="none" strike="noStrike">
                <a:solidFill>
                  <a:srgbClr val="E1EAF7"/>
                </a:solidFill>
                <a:effectLst/>
                <a:uFillTx/>
                <a:latin typeface="Trebuchet MS"/>
              </a:rPr>
              <a:t>)</a:t>
            </a:r>
            <a:br>
              <a:rPr sz="1800"/>
            </a:br>
            <a:br>
              <a:rPr sz="1800"/>
            </a:br>
            <a:r>
              <a:rPr lang="it-IT" sz="1600" b="0" u="none" strike="noStrike">
                <a:solidFill>
                  <a:srgbClr val="E1EAF7"/>
                </a:solidFill>
                <a:effectLst/>
                <a:uFillTx/>
                <a:latin typeface="Trebuchet MS"/>
              </a:rPr>
              <a:t>print(response.text)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Rounded Rectangle 7"/>
          <p:cNvSpPr/>
          <p:nvPr/>
        </p:nvSpPr>
        <p:spPr>
          <a:xfrm>
            <a:off x="8229600" y="1737360"/>
            <a:ext cx="3107160" cy="4158720"/>
          </a:xfrm>
          <a:prstGeom prst="roundRect">
            <a:avLst>
              <a:gd name="adj" fmla="val 16667"/>
            </a:avLst>
          </a:prstGeom>
          <a:solidFill>
            <a:srgbClr val="EFF4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08" name="TextBox 8"/>
          <p:cNvSpPr/>
          <p:nvPr/>
        </p:nvSpPr>
        <p:spPr>
          <a:xfrm>
            <a:off x="8503920" y="2057400"/>
            <a:ext cx="2558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COSA OSSERVARE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Box 9"/>
          <p:cNvSpPr/>
          <p:nvPr/>
        </p:nvSpPr>
        <p:spPr>
          <a:xfrm>
            <a:off x="8503920" y="2606040"/>
            <a:ext cx="251280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6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Lo pseudocodice mostra il pattern: autenticazione → richiesta → modello → input → risposta.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1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2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14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FLUSSO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Una pipeline reale in Python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17" name="Rounded Rectangle 5"/>
          <p:cNvSpPr/>
          <p:nvPr/>
        </p:nvSpPr>
        <p:spPr>
          <a:xfrm>
            <a:off x="157860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18" name="TextBox 6"/>
          <p:cNvSpPr/>
          <p:nvPr/>
        </p:nvSpPr>
        <p:spPr>
          <a:xfrm>
            <a:off x="165204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Leggi dati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Box 7"/>
          <p:cNvSpPr/>
          <p:nvPr/>
        </p:nvSpPr>
        <p:spPr>
          <a:xfrm>
            <a:off x="324288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Rounded Rectangle 8"/>
          <p:cNvSpPr/>
          <p:nvPr/>
        </p:nvSpPr>
        <p:spPr>
          <a:xfrm>
            <a:off x="342576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21" name="TextBox 9"/>
          <p:cNvSpPr/>
          <p:nvPr/>
        </p:nvSpPr>
        <p:spPr>
          <a:xfrm>
            <a:off x="349884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Prepara prompt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Box 10"/>
          <p:cNvSpPr/>
          <p:nvPr/>
        </p:nvSpPr>
        <p:spPr>
          <a:xfrm>
            <a:off x="509004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Rounded Rectangle 11"/>
          <p:cNvSpPr/>
          <p:nvPr/>
        </p:nvSpPr>
        <p:spPr>
          <a:xfrm>
            <a:off x="527292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B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24" name="TextBox 12"/>
          <p:cNvSpPr/>
          <p:nvPr/>
        </p:nvSpPr>
        <p:spPr>
          <a:xfrm>
            <a:off x="534600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Chiama il modello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Box 13"/>
          <p:cNvSpPr/>
          <p:nvPr/>
        </p:nvSpPr>
        <p:spPr>
          <a:xfrm>
            <a:off x="693720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Rounded Rectangle 14"/>
          <p:cNvSpPr/>
          <p:nvPr/>
        </p:nvSpPr>
        <p:spPr>
          <a:xfrm>
            <a:off x="712008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27" name="TextBox 15"/>
          <p:cNvSpPr/>
          <p:nvPr/>
        </p:nvSpPr>
        <p:spPr>
          <a:xfrm>
            <a:off x="719316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Valida output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Box 16"/>
          <p:cNvSpPr/>
          <p:nvPr/>
        </p:nvSpPr>
        <p:spPr>
          <a:xfrm>
            <a:off x="8784360" y="2651760"/>
            <a:ext cx="199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1" u="none" strike="noStrike">
                <a:solidFill>
                  <a:srgbClr val="607088"/>
                </a:solidFill>
                <a:effectLst/>
                <a:uFillTx/>
                <a:latin typeface="Trebuchet MS"/>
              </a:rPr>
              <a:t>→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Rounded Rectangle 17"/>
          <p:cNvSpPr/>
          <p:nvPr/>
        </p:nvSpPr>
        <p:spPr>
          <a:xfrm>
            <a:off x="8967240" y="2331720"/>
            <a:ext cx="1644120" cy="1049760"/>
          </a:xfrm>
          <a:prstGeom prst="roundRect">
            <a:avLst>
              <a:gd name="adj" fmla="val 16667"/>
            </a:avLst>
          </a:prstGeom>
          <a:solidFill>
            <a:srgbClr val="F4E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30" name="TextBox 18"/>
          <p:cNvSpPr/>
          <p:nvPr/>
        </p:nvSpPr>
        <p:spPr>
          <a:xfrm>
            <a:off x="9040320" y="2606040"/>
            <a:ext cx="1497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4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Salva/usa risultato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Box 19"/>
          <p:cNvSpPr/>
          <p:nvPr/>
        </p:nvSpPr>
        <p:spPr>
          <a:xfrm>
            <a:off x="914400" y="4160520"/>
            <a:ext cx="1033092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8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valore nasce dall’orchestrazione: dati, logica applicativa, controlli e AI lavorano insieme.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Rectangle 2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3" name="Rectangle 2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34" name="Picture 2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36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Output strutturato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39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40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In molti casi non vogliamo solo testo libero. Possiamo chiedere JSON o strutture validate per collegare la risposta a codice, database e interfacce.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42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La validazione lato Python resta fondamentale: non fidarsi ciecamente del formato generato.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5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46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48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RAG con Python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51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52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Pipeline tipica: caricare documenti → dividerli in chunk → creare embedding → cercare i chunk rilevanti → inserirli nel prompt → generare la risposta.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54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Questo permette di costruire assistenti basati su documentazione privata o aggiornata.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7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58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60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CONCETTO CHIAVE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Valutare un’applicazione LLM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63" name="Rounded Rectangle 5"/>
          <p:cNvSpPr/>
          <p:nvPr/>
        </p:nvSpPr>
        <p:spPr>
          <a:xfrm>
            <a:off x="731520" y="1737360"/>
            <a:ext cx="6901920" cy="3564360"/>
          </a:xfrm>
          <a:prstGeom prst="roundRect">
            <a:avLst>
              <a:gd name="adj" fmla="val 16667"/>
            </a:avLst>
          </a:prstGeom>
          <a:solidFill>
            <a:srgbClr val="F7F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64" name="TextBox 6"/>
          <p:cNvSpPr/>
          <p:nvPr/>
        </p:nvSpPr>
        <p:spPr>
          <a:xfrm>
            <a:off x="1051560" y="2103120"/>
            <a:ext cx="6261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200" b="0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Non basta dire “sembra bravo”. Servono dataset di test, casi limite, metriche, verifiche fattuali, costi, latenza e feedback degli utenti.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Rounded Rectangle 7"/>
          <p:cNvSpPr/>
          <p:nvPr/>
        </p:nvSpPr>
        <p:spPr>
          <a:xfrm>
            <a:off x="7909560" y="1737360"/>
            <a:ext cx="3518640" cy="3564360"/>
          </a:xfrm>
          <a:prstGeom prst="roundRect">
            <a:avLst>
              <a:gd name="adj" fmla="val 16667"/>
            </a:avLst>
          </a:prstGeom>
          <a:solidFill>
            <a:srgbClr val="ECF2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66" name="TextBox 8"/>
          <p:cNvSpPr/>
          <p:nvPr/>
        </p:nvSpPr>
        <p:spPr>
          <a:xfrm>
            <a:off x="8229600" y="2057400"/>
            <a:ext cx="283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2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DA RICORDARE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Box 9"/>
          <p:cNvSpPr/>
          <p:nvPr/>
        </p:nvSpPr>
        <p:spPr>
          <a:xfrm>
            <a:off x="8229600" y="2606040"/>
            <a:ext cx="278712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700" b="0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L’AI in produzione è ingegneria: osservabilità e test contano quanto il prompt.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Rectangle 11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9" name="Rectangle 12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70" name="Picture 13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72" name="TextBox 2"/>
          <p:cNvSpPr/>
          <p:nvPr/>
        </p:nvSpPr>
        <p:spPr>
          <a:xfrm>
            <a:off x="685800" y="411480"/>
            <a:ext cx="1078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100" b="1" u="none" strike="noStrike">
                <a:solidFill>
                  <a:srgbClr val="225CE6"/>
                </a:solidFill>
                <a:effectLst/>
                <a:uFillTx/>
                <a:latin typeface="Trebuchet MS"/>
              </a:rPr>
              <a:t>RIEPILOGO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Box 3"/>
          <p:cNvSpPr/>
          <p:nvPr/>
        </p:nvSpPr>
        <p:spPr>
          <a:xfrm>
            <a:off x="685800" y="713160"/>
            <a:ext cx="1078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2800" b="1" u="none" strike="noStrike">
                <a:solidFill>
                  <a:srgbClr val="0C1830"/>
                </a:solidFill>
                <a:effectLst/>
                <a:uFillTx/>
                <a:latin typeface="Trebuchet MS"/>
              </a:rPr>
              <a:t>Le 10 idee da portare a casa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Rectangle 4"/>
          <p:cNvSpPr/>
          <p:nvPr/>
        </p:nvSpPr>
        <p:spPr>
          <a:xfrm>
            <a:off x="685800" y="1417320"/>
            <a:ext cx="1004040" cy="52920"/>
          </a:xfrm>
          <a:prstGeom prst="rect">
            <a:avLst/>
          </a:prstGeom>
          <a:solidFill>
            <a:srgbClr val="25BE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75" name="Oval 5"/>
          <p:cNvSpPr/>
          <p:nvPr/>
        </p:nvSpPr>
        <p:spPr>
          <a:xfrm>
            <a:off x="822960" y="1755720"/>
            <a:ext cx="382320" cy="382320"/>
          </a:xfrm>
          <a:prstGeom prst="ellipse">
            <a:avLst/>
          </a:prstGeom>
          <a:solidFill>
            <a:srgbClr val="225C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76" name="TextBox 6"/>
          <p:cNvSpPr/>
          <p:nvPr/>
        </p:nvSpPr>
        <p:spPr>
          <a:xfrm>
            <a:off x="822960" y="182880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Box 7"/>
          <p:cNvSpPr/>
          <p:nvPr/>
        </p:nvSpPr>
        <p:spPr>
          <a:xfrm>
            <a:off x="1353240" y="173736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Un LLM è un modello probabilistico del linguaggio.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Oval 8"/>
          <p:cNvSpPr/>
          <p:nvPr/>
        </p:nvSpPr>
        <p:spPr>
          <a:xfrm>
            <a:off x="822960" y="2578680"/>
            <a:ext cx="382320" cy="382320"/>
          </a:xfrm>
          <a:prstGeom prst="ellipse">
            <a:avLst/>
          </a:prstGeom>
          <a:solidFill>
            <a:srgbClr val="225C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79" name="TextBox 9"/>
          <p:cNvSpPr/>
          <p:nvPr/>
        </p:nvSpPr>
        <p:spPr>
          <a:xfrm>
            <a:off x="822960" y="265176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Box 10"/>
          <p:cNvSpPr/>
          <p:nvPr/>
        </p:nvSpPr>
        <p:spPr>
          <a:xfrm>
            <a:off x="1353240" y="256032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Genera un token alla volta.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Oval 11"/>
          <p:cNvSpPr/>
          <p:nvPr/>
        </p:nvSpPr>
        <p:spPr>
          <a:xfrm>
            <a:off x="822960" y="3401640"/>
            <a:ext cx="382320" cy="382320"/>
          </a:xfrm>
          <a:prstGeom prst="ellipse">
            <a:avLst/>
          </a:prstGeom>
          <a:solidFill>
            <a:srgbClr val="225C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82" name="TextBox 12"/>
          <p:cNvSpPr/>
          <p:nvPr/>
        </p:nvSpPr>
        <p:spPr>
          <a:xfrm>
            <a:off x="822960" y="347472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3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Box 13"/>
          <p:cNvSpPr/>
          <p:nvPr/>
        </p:nvSpPr>
        <p:spPr>
          <a:xfrm>
            <a:off x="1353240" y="338328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Token ed embedding trasformano testo in numeri.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Oval 14"/>
          <p:cNvSpPr/>
          <p:nvPr/>
        </p:nvSpPr>
        <p:spPr>
          <a:xfrm>
            <a:off x="822960" y="4224600"/>
            <a:ext cx="382320" cy="382320"/>
          </a:xfrm>
          <a:prstGeom prst="ellipse">
            <a:avLst/>
          </a:prstGeom>
          <a:solidFill>
            <a:srgbClr val="225C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85" name="TextBox 15"/>
          <p:cNvSpPr/>
          <p:nvPr/>
        </p:nvSpPr>
        <p:spPr>
          <a:xfrm>
            <a:off x="822960" y="429768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4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Box 16"/>
          <p:cNvSpPr/>
          <p:nvPr/>
        </p:nvSpPr>
        <p:spPr>
          <a:xfrm>
            <a:off x="1353240" y="420624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Transformer usa self-attention.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Oval 17"/>
          <p:cNvSpPr/>
          <p:nvPr/>
        </p:nvSpPr>
        <p:spPr>
          <a:xfrm>
            <a:off x="822960" y="5047560"/>
            <a:ext cx="382320" cy="382320"/>
          </a:xfrm>
          <a:prstGeom prst="ellipse">
            <a:avLst/>
          </a:prstGeom>
          <a:solidFill>
            <a:srgbClr val="225C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88" name="TextBox 18"/>
          <p:cNvSpPr/>
          <p:nvPr/>
        </p:nvSpPr>
        <p:spPr>
          <a:xfrm>
            <a:off x="822960" y="512064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5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Box 19"/>
          <p:cNvSpPr/>
          <p:nvPr/>
        </p:nvSpPr>
        <p:spPr>
          <a:xfrm>
            <a:off x="1353240" y="502920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Il pretraining apprende pattern da grandi dataset.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Oval 20"/>
          <p:cNvSpPr/>
          <p:nvPr/>
        </p:nvSpPr>
        <p:spPr>
          <a:xfrm>
            <a:off x="6400800" y="1755720"/>
            <a:ext cx="382320" cy="382320"/>
          </a:xfrm>
          <a:prstGeom prst="ellipse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91" name="TextBox 21"/>
          <p:cNvSpPr/>
          <p:nvPr/>
        </p:nvSpPr>
        <p:spPr>
          <a:xfrm>
            <a:off x="6400800" y="182880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6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Box 22"/>
          <p:cNvSpPr/>
          <p:nvPr/>
        </p:nvSpPr>
        <p:spPr>
          <a:xfrm>
            <a:off x="6931080" y="173736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Instruction tuning e feedback rendono il modello più utile.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Oval 23"/>
          <p:cNvSpPr/>
          <p:nvPr/>
        </p:nvSpPr>
        <p:spPr>
          <a:xfrm>
            <a:off x="6400800" y="2578680"/>
            <a:ext cx="382320" cy="382320"/>
          </a:xfrm>
          <a:prstGeom prst="ellipse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94" name="TextBox 24"/>
          <p:cNvSpPr/>
          <p:nvPr/>
        </p:nvSpPr>
        <p:spPr>
          <a:xfrm>
            <a:off x="6400800" y="265176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7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Box 25"/>
          <p:cNvSpPr/>
          <p:nvPr/>
        </p:nvSpPr>
        <p:spPr>
          <a:xfrm>
            <a:off x="6931080" y="256032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Inferenza e sampling producono la risposta.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Oval 26"/>
          <p:cNvSpPr/>
          <p:nvPr/>
        </p:nvSpPr>
        <p:spPr>
          <a:xfrm>
            <a:off x="6400800" y="3401640"/>
            <a:ext cx="382320" cy="382320"/>
          </a:xfrm>
          <a:prstGeom prst="ellipse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897" name="TextBox 27"/>
          <p:cNvSpPr/>
          <p:nvPr/>
        </p:nvSpPr>
        <p:spPr>
          <a:xfrm>
            <a:off x="6400800" y="347472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8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Box 28"/>
          <p:cNvSpPr/>
          <p:nvPr/>
        </p:nvSpPr>
        <p:spPr>
          <a:xfrm>
            <a:off x="6931080" y="338328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Prompt e contesto orientano, non garantiscono.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Oval 29"/>
          <p:cNvSpPr/>
          <p:nvPr/>
        </p:nvSpPr>
        <p:spPr>
          <a:xfrm>
            <a:off x="6400800" y="4224600"/>
            <a:ext cx="382320" cy="382320"/>
          </a:xfrm>
          <a:prstGeom prst="ellipse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900" name="TextBox 30"/>
          <p:cNvSpPr/>
          <p:nvPr/>
        </p:nvSpPr>
        <p:spPr>
          <a:xfrm>
            <a:off x="6400800" y="429768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9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Box 31"/>
          <p:cNvSpPr/>
          <p:nvPr/>
        </p:nvSpPr>
        <p:spPr>
          <a:xfrm>
            <a:off x="6931080" y="420624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Allucinazioni e bias richiedono verifica.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Oval 32"/>
          <p:cNvSpPr/>
          <p:nvPr/>
        </p:nvSpPr>
        <p:spPr>
          <a:xfrm>
            <a:off x="6400800" y="5047560"/>
            <a:ext cx="382320" cy="382320"/>
          </a:xfrm>
          <a:prstGeom prst="ellipse">
            <a:avLst/>
          </a:prstGeom>
          <a:solidFill>
            <a:srgbClr val="784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903" name="TextBox 33"/>
          <p:cNvSpPr/>
          <p:nvPr/>
        </p:nvSpPr>
        <p:spPr>
          <a:xfrm>
            <a:off x="6400800" y="5120640"/>
            <a:ext cx="382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1000" b="1" u="none" strike="noStrike">
                <a:solidFill>
                  <a:srgbClr val="FAFCFF"/>
                </a:solidFill>
                <a:effectLst/>
                <a:uFillTx/>
                <a:latin typeface="Trebuchet MS"/>
              </a:rPr>
              <a:t>10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Box 34"/>
          <p:cNvSpPr/>
          <p:nvPr/>
        </p:nvSpPr>
        <p:spPr>
          <a:xfrm>
            <a:off x="6931080" y="5029200"/>
            <a:ext cx="47530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it-IT" sz="1500" b="1" u="none" strike="noStrike">
                <a:solidFill>
                  <a:srgbClr val="182234"/>
                </a:solidFill>
                <a:effectLst/>
                <a:uFillTx/>
                <a:latin typeface="Trebuchet MS"/>
              </a:rPr>
              <a:t>Con Python possiamo trasformare un LLM in un componente applicativo.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Rectangle 36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6" name="Rectangle 37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07" name="Picture 38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Rectangle 2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0C1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909" name="Rectangle 1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FAF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910" name="TextBox 3"/>
          <p:cNvSpPr/>
          <p:nvPr/>
        </p:nvSpPr>
        <p:spPr>
          <a:xfrm>
            <a:off x="822960" y="1051560"/>
            <a:ext cx="10513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30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La domanda giusta non è:</a:t>
            </a:r>
            <a:br>
              <a:rPr sz="1800"/>
            </a:br>
            <a:r>
              <a:rPr lang="it-IT" sz="30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“L’LLM pensa?”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Box 4"/>
          <p:cNvSpPr/>
          <p:nvPr/>
        </p:nvSpPr>
        <p:spPr>
          <a:xfrm>
            <a:off x="1005840" y="2743200"/>
            <a:ext cx="101480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it-IT" sz="30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La domanda utile è:</a:t>
            </a:r>
            <a:br>
              <a:rPr sz="1800"/>
            </a:br>
            <a:r>
              <a:rPr lang="it-IT" sz="30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“Quale problema può aiutarci a risolvere, con quali dati, controlli e responsabilità?”</a:t>
            </a:r>
            <a:endParaRPr lang="it-I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Rectangle 7"/>
          <p:cNvSpPr/>
          <p:nvPr/>
        </p:nvSpPr>
        <p:spPr>
          <a:xfrm>
            <a:off x="0" y="6807600"/>
            <a:ext cx="12189960" cy="48600"/>
          </a:xfrm>
          <a:prstGeom prst="rect">
            <a:avLst/>
          </a:prstGeom>
          <a:solidFill>
            <a:srgbClr val="234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3" name="Rectangle 8"/>
          <p:cNvSpPr/>
          <p:nvPr/>
        </p:nvSpPr>
        <p:spPr>
          <a:xfrm>
            <a:off x="10728720" y="137160"/>
            <a:ext cx="116856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14" name="Picture 9" descr="challenge_logo.png"/>
          <p:cNvPicPr/>
          <p:nvPr/>
        </p:nvPicPr>
        <p:blipFill>
          <a:blip r:embed="rId1"/>
          <a:stretch/>
        </p:blipFill>
        <p:spPr>
          <a:xfrm>
            <a:off x="10774440" y="164520"/>
            <a:ext cx="1077120" cy="51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OpenAI</dc:creator>
  <dc:description>generated using python-pptx</dc:description>
  <dc:language>it-IT</dc:language>
  <cp:lastModifiedBy/>
  <dcterms:modified xsi:type="dcterms:W3CDTF">2026-09-21T14:15:59Z</dcterms:modified>
  <cp:revision>8</cp:revision>
  <dc:subject>Corso Python + AI</dc:subject>
  <dc:title>Cosa sono i Large Language Models — 60 slide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